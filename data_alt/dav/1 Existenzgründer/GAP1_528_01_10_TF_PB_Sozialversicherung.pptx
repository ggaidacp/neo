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9"/>
  </p:notesMasterIdLst>
  <p:handoutMasterIdLst>
    <p:handoutMasterId r:id="rId20"/>
  </p:handoutMasterIdLst>
  <p:sldIdLst>
    <p:sldId id="300" r:id="rId2"/>
    <p:sldId id="301" r:id="rId3"/>
    <p:sldId id="309" r:id="rId4"/>
    <p:sldId id="302" r:id="rId5"/>
    <p:sldId id="310" r:id="rId6"/>
    <p:sldId id="303" r:id="rId7"/>
    <p:sldId id="311" r:id="rId8"/>
    <p:sldId id="304" r:id="rId9"/>
    <p:sldId id="312" r:id="rId10"/>
    <p:sldId id="305" r:id="rId11"/>
    <p:sldId id="313" r:id="rId12"/>
    <p:sldId id="314" r:id="rId13"/>
    <p:sldId id="306" r:id="rId14"/>
    <p:sldId id="315" r:id="rId15"/>
    <p:sldId id="307" r:id="rId16"/>
    <p:sldId id="316" r:id="rId17"/>
    <p:sldId id="308" r:id="rId18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BAB9"/>
    <a:srgbClr val="D4DD9E"/>
    <a:srgbClr val="C7D27E"/>
    <a:srgbClr val="C65553"/>
    <a:srgbClr val="DD9897"/>
    <a:srgbClr val="EBECD9"/>
    <a:srgbClr val="254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7" d="100"/>
          <a:sy n="97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720" y="-9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dirty="0"/>
              <a:t>Grundausbildung Stufe 1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 dirty="0"/>
              <a:t>Sozialversicherung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93268" y="9581802"/>
            <a:ext cx="7006034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de-DE" dirty="0"/>
              <a:t>AG 528-1  01.01.2016  © Deutsche Akademie für Vermögensberatung   Seite </a:t>
            </a:r>
            <a:fld id="{66FA4CEA-BF67-4A9F-AFC2-663DF5E02114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6" name="Gerade Verbindung 5"/>
          <p:cNvCxnSpPr/>
          <p:nvPr/>
        </p:nvCxnSpPr>
        <p:spPr>
          <a:xfrm>
            <a:off x="2" y="377237"/>
            <a:ext cx="7099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/>
          <p:cNvCxnSpPr/>
          <p:nvPr/>
        </p:nvCxnSpPr>
        <p:spPr>
          <a:xfrm>
            <a:off x="2" y="9725818"/>
            <a:ext cx="7099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8" y="9869834"/>
            <a:ext cx="623677" cy="32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0679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5D156-7DD8-4F48-98B9-E1F743A6E333}" type="datetimeFigureOut">
              <a:rPr lang="de-DE" smtClean="0"/>
              <a:t>08.11.2018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AFA48-5FA5-4671-AEE4-7962A7B903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762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5175"/>
            <a:ext cx="5119688" cy="3840163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68" y="4861441"/>
            <a:ext cx="5287984" cy="4607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75407" y="2566652"/>
            <a:ext cx="7772400" cy="1470025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455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999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66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615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828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7293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" y="0"/>
            <a:ext cx="9141232" cy="685800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48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 rot="16200000">
            <a:off x="6422234" y="3463131"/>
            <a:ext cx="49482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03819" y="61849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Picture 2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53" y="6313450"/>
            <a:ext cx="2590800" cy="38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777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Existenzgründung für Vermögensberater  </a:t>
            </a:r>
            <a:br>
              <a:rPr lang="de-DE" dirty="0"/>
            </a:br>
            <a:r>
              <a:rPr lang="de-DE" dirty="0"/>
              <a:t>Prüfen Sie Ihr Wissen</a:t>
            </a: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>
                <a:solidFill>
                  <a:srgbClr val="FFFFFF">
                    <a:lumMod val="50000"/>
                  </a:srgbClr>
                </a:solidFill>
              </a:rPr>
              <a:t>AG 528-1  01.01.2018  © Deutsche Akademie für Vermögensberatung AG</a:t>
            </a:r>
            <a:endParaRPr lang="de-DE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1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10" name="Gruppieren 9"/>
          <p:cNvGrpSpPr/>
          <p:nvPr/>
        </p:nvGrpSpPr>
        <p:grpSpPr>
          <a:xfrm>
            <a:off x="430213" y="1890692"/>
            <a:ext cx="8281276" cy="3967200"/>
            <a:chOff x="430213" y="1890692"/>
            <a:chExt cx="8281276" cy="3967200"/>
          </a:xfrm>
        </p:grpSpPr>
        <p:sp>
          <p:nvSpPr>
            <p:cNvPr id="11" name="Rechteck 10"/>
            <p:cNvSpPr/>
            <p:nvPr/>
          </p:nvSpPr>
          <p:spPr>
            <a:xfrm flipV="1">
              <a:off x="430213" y="5357826"/>
              <a:ext cx="8280000" cy="50006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" name="Grafik 11" descr="Titel.w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511" y="3899243"/>
              <a:ext cx="8278978" cy="1387145"/>
            </a:xfrm>
            <a:prstGeom prst="rect">
              <a:avLst/>
            </a:prstGeom>
          </p:spPr>
        </p:pic>
        <p:sp>
          <p:nvSpPr>
            <p:cNvPr id="13" name="Rechteck 12"/>
            <p:cNvSpPr/>
            <p:nvPr/>
          </p:nvSpPr>
          <p:spPr>
            <a:xfrm flipV="1">
              <a:off x="430213" y="1890692"/>
              <a:ext cx="8280000" cy="3967200"/>
            </a:xfrm>
            <a:prstGeom prst="rect">
              <a:avLst/>
            </a:prstGeom>
            <a:solidFill>
              <a:srgbClr val="E8B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Inhaltsplatzhalter 2"/>
            <p:cNvSpPr txBox="1">
              <a:spLocks/>
            </p:cNvSpPr>
            <p:nvPr/>
          </p:nvSpPr>
          <p:spPr bwMode="auto">
            <a:xfrm>
              <a:off x="642910" y="2175061"/>
              <a:ext cx="7128792" cy="1584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VBA-Ausbildung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Sozialversicherung</a:t>
              </a:r>
            </a:p>
            <a:p>
              <a:pPr lvl="0">
                <a:spcBef>
                  <a:spcPts val="0"/>
                </a:spcBef>
                <a:tabLst>
                  <a:tab pos="177800" algn="l"/>
                </a:tabLst>
              </a:pPr>
              <a:r>
                <a:rPr lang="de-DE" dirty="0">
                  <a:solidFill>
                    <a:schemeClr val="accent5"/>
                  </a:solidFill>
                </a:rPr>
                <a:t>► </a:t>
              </a: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Basiswissen Sozialversicherung</a:t>
              </a:r>
            </a:p>
            <a:p>
              <a:pPr lvl="0">
                <a:spcBef>
                  <a:spcPts val="0"/>
                </a:spcBef>
                <a:tabLst>
                  <a:tab pos="177800" algn="l"/>
                </a:tabLst>
              </a:pPr>
              <a:r>
                <a:rPr lang="de-DE" dirty="0">
                  <a:solidFill>
                    <a:schemeClr val="accent5"/>
                  </a:solidFill>
                </a:rPr>
                <a:t>► </a:t>
              </a: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Basiswissen gesetzliche Rentenversicherung</a:t>
              </a:r>
            </a:p>
            <a:p>
              <a:pPr lvl="0">
                <a:spcBef>
                  <a:spcPts val="0"/>
                </a:spcBef>
                <a:tabLst>
                  <a:tab pos="177800" algn="l"/>
                </a:tabLst>
              </a:pPr>
              <a:r>
                <a:rPr lang="de-DE" dirty="0">
                  <a:solidFill>
                    <a:schemeClr val="accent5"/>
                  </a:solidFill>
                </a:rPr>
                <a:t>► </a:t>
              </a: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Basiswissen gesetzliche Krankenversicherung</a:t>
              </a:r>
              <a:endParaRPr kumimoji="0" lang="de-DE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hteck 14"/>
            <p:cNvSpPr/>
            <p:nvPr/>
          </p:nvSpPr>
          <p:spPr>
            <a:xfrm flipV="1">
              <a:off x="430213" y="5357826"/>
              <a:ext cx="8280000" cy="50006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" name="Grafik 15" descr="Fotos Titel.wmf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11" y="3899243"/>
              <a:ext cx="8278978" cy="13871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83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1.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Aus wie vielen Säulen besteht die gesetzliche Sozialversicherung in Deutschland?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2876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4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6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5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3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86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1.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Aus wie vielen Säulen besteht die gesetzliche Sozialversicherung in Deutschland?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2876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4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6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5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3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1575" y="3789040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9551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2.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Für welche Kosten kommt die gesetzliche Krankenversicherung auf?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Arzneimittelversorgung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Arzt- und Zahnarztkosten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Chefarztbehandlung im Krankenhaus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Krankenhauskosten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857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2.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Für welche Kosten kommt die gesetzliche Krankenversicherung auf?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Arzneimittelversorgung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Arzt- und Zahnarztkosten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Chefarztbehandlung im Krankenhaus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Krankenhauskosten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5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1575" y="3162871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71575" y="3459866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77206" y="4098975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4965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3.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Was gehört zum Prinzip der Solidarität in der Sozialversicherung?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Alle Versicherten tragen gemeinsam die zu versicherten Risiken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Wer mehr zahlt, erhält höhere Leistungen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Leistungen sind unabhängig von der Höhe der Beitragszahlung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Jeder EU-Bürger kann in einen Mitgliedstaat seiner Wahl leben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478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3.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Was gehört zum Prinzip der Solidarität in der Sozialversicherung?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Alle Versicherten tragen gemeinsam die zu versicherten Risiken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Wer mehr zahlt, erhält höhere Leistungen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Leistungen sind unabhängig von der Höhe der Beitragszahlung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Jeder EU-Bürger kann in einen Mitgliedstaat seiner Wahl leben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7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7206" y="3162871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87624" y="3789040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2817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4.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Welche Formen der Mitgliedschaft in der Gesetzlichen Rentenversicherung gibt es?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Pflichtversicherung auf Antrag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Pflichtversicherung kraft Gesetzes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Freiwillige Versicherung auf Wunsch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Zusatzversicherung auf Wunsch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929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9794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4.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Welche Formen der Mitgliedschaft in der Gesetzlichen Rentenversicherung gibt es?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Pflichtversicherung auf Antrag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Pflichtversicherung kraft Gesetzes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Freiwillige Versicherung auf Wunsch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Zusatzversicherung auf Wunsch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9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1575" y="3162871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77206" y="3450903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77206" y="3789040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225637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5.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Was definiert die Beitragsbemessungsgrenze?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7792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Es gibt eine Höchstgrenze für Beiträge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Die Beitragsbemessungsgrenze richtet sich nach dem Bruttoeinkommen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Sie wird jährlich neu festgelegt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Für West und Ost gibt es dieselbe Beitragsbemessungsgrenze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79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1988002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5.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Was definiert die Beitragsbemessungsgrenze?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77928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Es gibt eine Höchstgrenze für Beiträge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Die Beitragsbemessungsgrenze richtet sich nach dem Bruttoeinkommen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Sie wird jährlich neu festgelegt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Für West und Ost gibt es dieselbe Beitragsbemessungsgrenze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11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1575" y="3162871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71575" y="3499690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87624" y="4026967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rgbClr val="849085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92360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2109636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6.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Eine halbe Erwerbsminderungsrente erhält, wer…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…unter 3 Stunden täglich arbeitsfähig ist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…3 bis 6 Stunden täglich irgendeine Tätigkeit ausüben kann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…6 Stunden am Tag irgendeine Tätigkeit ausüben kann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…bisher halbtags gearbeitet hat und nun erwerbsunfähig ist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12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562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2109636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6.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Eine halbe Erwerbsminderungsrente erhält, wer…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…unter 3 Stunden täglich arbeitsfähig ist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…3 bis 6 Stunden täglich irgendeine Tätigkeit ausüben kann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…6 Stunden am Tag irgendeine Tätigkeit ausüben kann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…bisher halbtags gearbeitet hat und nun erwerbsunfähig ist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1575" y="3470819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42676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2109636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7.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Wer ist kraft Gesetzes in der KV pflichtversichert?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Azubis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Arbeitnehmer unter der Versicherungspflichtgrenze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Freiberufler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Selbständige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14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09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2109636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7.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Wer ist kraft Gesetzes in der KV pflichtversichert?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15330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Azubis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Arbeitnehmer unter der Versicherungspflichtgrenze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Freiberufler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Selbständige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1575" y="3162871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77206" y="3480762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74430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2181644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rgbClr val="FFFFFF"/>
                </a:solidFill>
              </a:rPr>
              <a:t>8.</a:t>
            </a:r>
            <a:r>
              <a:rPr lang="de-DE" sz="2000" b="1" dirty="0">
                <a:solidFill>
                  <a:srgbClr val="FFFFFF"/>
                </a:solidFill>
              </a:rPr>
              <a:t>	</a:t>
            </a:r>
            <a:r>
              <a:rPr lang="de-DE" sz="2000" dirty="0">
                <a:solidFill>
                  <a:srgbClr val="FFFFFF"/>
                </a:solidFill>
              </a:rPr>
              <a:t>Was gilt für die Gesetzliche Krankenversicherung?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202550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Beiträge werden je zu 50 % von Arbeitgeber und Arbeitnehmer finanziert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Der Arbeitnehmer zahlt die Beiträge alleine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Der Arbeitgeber zahlt die Beiträge alleine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>
                <a:solidFill>
                  <a:srgbClr val="000000"/>
                </a:solidFill>
              </a:rPr>
              <a:t>Arbeitgeber und Arbeitnehmer teilen sich die Beiträge zu individuellen Teilen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solidFill>
                  <a:srgbClr val="000000"/>
                </a:solidFill>
              </a:rPr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16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927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46163" y="2181644"/>
            <a:ext cx="7048500" cy="67129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8.</a:t>
            </a:r>
            <a:r>
              <a:rPr lang="de-DE" sz="2000" b="1" dirty="0">
                <a:solidFill>
                  <a:schemeClr val="bg1"/>
                </a:solidFill>
              </a:rPr>
              <a:t>	</a:t>
            </a:r>
            <a:r>
              <a:rPr lang="de-DE" sz="2000" dirty="0">
                <a:solidFill>
                  <a:schemeClr val="bg1"/>
                </a:solidFill>
              </a:rPr>
              <a:t>Was gilt für die Gesetzliche Krankenversicherung?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047750" y="3052366"/>
            <a:ext cx="7048500" cy="202550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Beiträge werden je zu 50 % von Arbeitgeber und Arbeitnehmer finanziert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Der Arbeitnehmer zahlt die Beiträge alleine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Der Arbeitgeber zahlt die Beiträge alleine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Arbeitgeber und Arbeitnehmer teilen sich die Beiträge zu individuellen Teilen</a:t>
            </a:r>
          </a:p>
        </p:txBody>
      </p:sp>
      <p:sp>
        <p:nvSpPr>
          <p:cNvPr id="4403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/>
              <a:t>Prüfen Sie Ihr Wissen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71575" y="3162871"/>
            <a:ext cx="2984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sz="1600" b="1" dirty="0">
                <a:solidFill>
                  <a:schemeClr val="tx2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66369590"/>
      </p:ext>
    </p:extLst>
  </p:cSld>
  <p:clrMapOvr>
    <a:masterClrMapping/>
  </p:clrMapOvr>
</p:sld>
</file>

<file path=ppt/theme/theme1.xml><?xml version="1.0" encoding="utf-8"?>
<a:theme xmlns:a="http://schemas.openxmlformats.org/drawingml/2006/main" name="1_DAV_Grundausbildung">
  <a:themeElements>
    <a:clrScheme name="Benutzerdefiniert 1">
      <a:dk1>
        <a:srgbClr val="000000"/>
      </a:dk1>
      <a:lt1>
        <a:srgbClr val="FFFFFF"/>
      </a:lt1>
      <a:dk2>
        <a:srgbClr val="849085"/>
      </a:dk2>
      <a:lt2>
        <a:srgbClr val="FFFFFF"/>
      </a:lt2>
      <a:accent1>
        <a:srgbClr val="3794A3"/>
      </a:accent1>
      <a:accent2>
        <a:srgbClr val="9DB11E"/>
      </a:accent2>
      <a:accent3>
        <a:srgbClr val="FFBD00"/>
      </a:accent3>
      <a:accent4>
        <a:srgbClr val="5A7033"/>
      </a:accent4>
      <a:accent5>
        <a:srgbClr val="B0110E"/>
      </a:accent5>
      <a:accent6>
        <a:srgbClr val="EBECD9"/>
      </a:accent6>
      <a:hlink>
        <a:srgbClr val="254274"/>
      </a:hlink>
      <a:folHlink>
        <a:srgbClr val="849085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487</Words>
  <Application>Microsoft Office PowerPoint</Application>
  <PresentationFormat>Bildschirmpräsentation (4:3)</PresentationFormat>
  <Paragraphs>136</Paragraphs>
  <Slides>17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Arial</vt:lpstr>
      <vt:lpstr>Calibri</vt:lpstr>
      <vt:lpstr>Symbol</vt:lpstr>
      <vt:lpstr>Wingdings</vt:lpstr>
      <vt:lpstr>1_DAV_Grundausbildung</vt:lpstr>
      <vt:lpstr>Existenzgründung für Vermögensberater   Prüfen Sie Ihr Wissen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DVAG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PPT-Vorgaben</dc:title>
  <dc:creator>Wolfram, Nicole</dc:creator>
  <cp:lastModifiedBy>Wolfram, Nicole</cp:lastModifiedBy>
  <cp:revision>346</cp:revision>
  <dcterms:created xsi:type="dcterms:W3CDTF">2015-02-02T15:12:23Z</dcterms:created>
  <dcterms:modified xsi:type="dcterms:W3CDTF">2018-11-08T13:08:57Z</dcterms:modified>
</cp:coreProperties>
</file>