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5"/>
  </p:notesMasterIdLst>
  <p:handoutMasterIdLst>
    <p:handoutMasterId r:id="rId16"/>
  </p:handoutMasterIdLst>
  <p:sldIdLst>
    <p:sldId id="487" r:id="rId2"/>
    <p:sldId id="488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96" r:id="rId11"/>
    <p:sldId id="497" r:id="rId12"/>
    <p:sldId id="498" r:id="rId13"/>
    <p:sldId id="499" r:id="rId14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9897"/>
    <a:srgbClr val="E8BAB9"/>
    <a:srgbClr val="C65553"/>
    <a:srgbClr val="D4DD9E"/>
    <a:srgbClr val="C7D27E"/>
    <a:srgbClr val="EBECD9"/>
    <a:srgbClr val="254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 autoAdjust="0"/>
    <p:restoredTop sz="94489" autoAdjust="0"/>
  </p:normalViewPr>
  <p:slideViewPr>
    <p:cSldViewPr showGuides="1">
      <p:cViewPr varScale="1">
        <p:scale>
          <a:sx n="97" d="100"/>
          <a:sy n="97" d="100"/>
        </p:scale>
        <p:origin x="1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672" y="-9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dirty="0"/>
              <a:t>Grundausbildung Stufe 2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 dirty="0"/>
              <a:t>Krankenversicherung (Zusatz)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de-DE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8" y="9869834"/>
            <a:ext cx="623677" cy="32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liennummernplatzhalter 4"/>
          <p:cNvSpPr txBox="1">
            <a:spLocks/>
          </p:cNvSpPr>
          <p:nvPr/>
        </p:nvSpPr>
        <p:spPr>
          <a:xfrm>
            <a:off x="813346" y="9721850"/>
            <a:ext cx="6284367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 dirty="0"/>
              <a:t>AG 528-2  01.01.2016 © Deutsche Akademie für Vermögensberatung Seite  </a:t>
            </a:r>
            <a:fld id="{4684BD28-94A7-4423-A42C-E6A1B51898E1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/>
        </p:nvCxnSpPr>
        <p:spPr>
          <a:xfrm>
            <a:off x="2" y="377237"/>
            <a:ext cx="7099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2" y="9725818"/>
            <a:ext cx="7099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598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C49D8-5B0B-476C-8793-496F4F843342}" type="datetimeFigureOut">
              <a:rPr lang="de-DE" smtClean="0"/>
              <a:t>08.11.2018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B01A3-575B-4B6E-A102-EF94201260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194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349" y="4861155"/>
            <a:ext cx="5282649" cy="4605821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5407" y="2566652"/>
            <a:ext cx="7772400" cy="1470025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592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941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162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370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425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11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" y="0"/>
            <a:ext cx="9141232" cy="685800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48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16200000">
            <a:off x="6422234" y="3463131"/>
            <a:ext cx="49482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de-DE" sz="800">
                <a:solidFill>
                  <a:schemeClr val="bg1">
                    <a:lumMod val="50000"/>
                  </a:schemeClr>
                </a:solidFill>
              </a:rPr>
              <a:t>AG 528 xxxx Datum  © Deutsche Akademie für Vermögensberatung AG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03819" y="61849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 </a:t>
            </a:r>
            <a:fld id="{A45FE700-56F4-472F-8C6C-BE5235DA880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Picture 2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3" y="6313450"/>
            <a:ext cx="2590800" cy="38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526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Symbol" panose="05050102010706020507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Symbol" panose="05050102010706020507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Symbol" panose="05050102010706020507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 typeface="Symbol" panose="05050102010706020507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Symbol" panose="05050102010706020507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 flipV="1">
            <a:off x="430213" y="2357430"/>
            <a:ext cx="8280000" cy="3500462"/>
          </a:xfrm>
          <a:prstGeom prst="rect">
            <a:avLst/>
          </a:prstGeom>
          <a:solidFill>
            <a:srgbClr val="E8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Existenzgründung für Vermögensberater</a:t>
            </a:r>
            <a:br>
              <a:rPr lang="de-DE" dirty="0"/>
            </a:br>
            <a:r>
              <a:rPr lang="de-DE" dirty="0"/>
              <a:t>Prüfen Sie Ihr Wissen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42910" y="2643183"/>
            <a:ext cx="7929618" cy="114300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de-DE" dirty="0">
                <a:solidFill>
                  <a:schemeClr val="accent5"/>
                </a:solidFill>
              </a:rPr>
              <a:t>AL-Ausbildung</a:t>
            </a:r>
          </a:p>
          <a:p>
            <a:pPr>
              <a:spcBef>
                <a:spcPts val="0"/>
              </a:spcBef>
            </a:pPr>
            <a:r>
              <a:rPr lang="de-DE" sz="2400" dirty="0"/>
              <a:t>Thema: Krankenversicherung</a:t>
            </a:r>
          </a:p>
          <a:p>
            <a:pPr>
              <a:spcBef>
                <a:spcPts val="0"/>
              </a:spcBef>
            </a:pPr>
            <a:r>
              <a:rPr lang="de-DE" sz="2400" dirty="0"/>
              <a:t>Produkt: Mein Gesundheitsplan</a:t>
            </a:r>
          </a:p>
          <a:p>
            <a:pPr>
              <a:spcBef>
                <a:spcPts val="0"/>
              </a:spcBef>
            </a:pP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>
                <a:solidFill>
                  <a:srgbClr val="FFFFFF">
                    <a:lumMod val="50000"/>
                  </a:srgbClr>
                </a:solidFill>
              </a:rPr>
              <a:t>AG 528-2  01.01.2018  © Deutsche Akademie für Vermögensberatung AG</a:t>
            </a:r>
            <a:endParaRPr lang="de-DE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tint val="75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 flipV="1">
            <a:off x="430213" y="5357826"/>
            <a:ext cx="8280000" cy="5000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 descr="Fotos Titel neu.w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2511" y="3900158"/>
            <a:ext cx="8278978" cy="13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3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1042988" y="2852738"/>
            <a:ext cx="7051675" cy="17732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Arbeitnehmer mit einem Einkommen unter der Versicherungspflicht- grenze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Auszubildende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Selbstständige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Arbeitslose</a:t>
            </a:r>
          </a:p>
        </p:txBody>
      </p:sp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1042988" y="1844824"/>
            <a:ext cx="705802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1.	Welche Personen sind in der gesetzlichen Kranken-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 err="1">
                <a:solidFill>
                  <a:schemeClr val="bg1"/>
                </a:solidFill>
              </a:rPr>
              <a:t>versicherung</a:t>
            </a:r>
            <a:r>
              <a:rPr lang="de-DE" sz="2000" dirty="0">
                <a:solidFill>
                  <a:schemeClr val="bg1"/>
                </a:solidFill>
              </a:rPr>
              <a:t> (GKV) pflichtversichert?</a:t>
            </a:r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2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38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1042988" y="2852738"/>
            <a:ext cx="7051675" cy="17732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Arbeitnehmer mit einem Einkommen unter der Versicherungspflicht- grenze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Auszubildende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Selbstständige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Arbeitslose</a:t>
            </a:r>
          </a:p>
        </p:txBody>
      </p:sp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1042988" y="1844824"/>
            <a:ext cx="705802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1.	Welche Personen sind in der gesetzlichen Kranken-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 err="1">
                <a:solidFill>
                  <a:schemeClr val="bg1"/>
                </a:solidFill>
              </a:rPr>
              <a:t>versicherung</a:t>
            </a:r>
            <a:r>
              <a:rPr lang="de-DE" sz="2000" dirty="0">
                <a:solidFill>
                  <a:schemeClr val="bg1"/>
                </a:solidFill>
              </a:rPr>
              <a:t> (GKV) pflichtversichert?</a:t>
            </a:r>
          </a:p>
        </p:txBody>
      </p:sp>
      <p:grpSp>
        <p:nvGrpSpPr>
          <p:cNvPr id="132101" name="Group 5"/>
          <p:cNvGrpSpPr>
            <a:grpSpLocks/>
          </p:cNvGrpSpPr>
          <p:nvPr/>
        </p:nvGrpSpPr>
        <p:grpSpPr bwMode="auto">
          <a:xfrm>
            <a:off x="1155700" y="2954338"/>
            <a:ext cx="312738" cy="1527175"/>
            <a:chOff x="728" y="1772"/>
            <a:chExt cx="197" cy="962"/>
          </a:xfrm>
        </p:grpSpPr>
        <p:sp>
          <p:nvSpPr>
            <p:cNvPr id="132102" name="Rectangle 6"/>
            <p:cNvSpPr>
              <a:spLocks noChangeArrowheads="1"/>
            </p:cNvSpPr>
            <p:nvPr/>
          </p:nvSpPr>
          <p:spPr bwMode="auto">
            <a:xfrm>
              <a:off x="728" y="17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2103" name="Rectangle 7"/>
            <p:cNvSpPr>
              <a:spLocks noChangeArrowheads="1"/>
            </p:cNvSpPr>
            <p:nvPr/>
          </p:nvSpPr>
          <p:spPr bwMode="auto">
            <a:xfrm>
              <a:off x="728" y="21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2104" name="Rectangle 8"/>
            <p:cNvSpPr>
              <a:spLocks noChangeArrowheads="1"/>
            </p:cNvSpPr>
            <p:nvPr/>
          </p:nvSpPr>
          <p:spPr bwMode="auto">
            <a:xfrm>
              <a:off x="729" y="250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</p:grp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3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1046163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2.	Welche der genannten Institutionen zählen zu den 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</a:rPr>
              <a:t>Trägern der GKV?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1042988" y="2938463"/>
            <a:ext cx="7051675" cy="152876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Ersatzkassen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Bundesversicherungsanstalt für Angestellte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Betriebskrankenkassen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Allgemeine Ortskrankenkassen</a:t>
            </a:r>
          </a:p>
        </p:txBody>
      </p:sp>
      <p:sp>
        <p:nvSpPr>
          <p:cNvPr id="134155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4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94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1046163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2.	Welche der genannten Institutionen zählen zu den 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</a:rPr>
              <a:t>Trägern der GKV?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1042988" y="2938463"/>
            <a:ext cx="7051675" cy="152876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Ersatzkassen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Bundesversicherungsanstalt für Angestellte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Betriebskrankenkassen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Allgemeine Ortskrankenkassen</a:t>
            </a:r>
          </a:p>
        </p:txBody>
      </p:sp>
      <p:grpSp>
        <p:nvGrpSpPr>
          <p:cNvPr id="134148" name="Group 4"/>
          <p:cNvGrpSpPr>
            <a:grpSpLocks/>
          </p:cNvGrpSpPr>
          <p:nvPr/>
        </p:nvGrpSpPr>
        <p:grpSpPr bwMode="auto">
          <a:xfrm>
            <a:off x="1152525" y="3044825"/>
            <a:ext cx="311150" cy="1293813"/>
            <a:chOff x="740" y="3121"/>
            <a:chExt cx="196" cy="815"/>
          </a:xfrm>
        </p:grpSpPr>
        <p:sp>
          <p:nvSpPr>
            <p:cNvPr id="134149" name="Rectangle 5"/>
            <p:cNvSpPr>
              <a:spLocks noChangeArrowheads="1"/>
            </p:cNvSpPr>
            <p:nvPr/>
          </p:nvSpPr>
          <p:spPr bwMode="auto">
            <a:xfrm>
              <a:off x="740" y="351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4150" name="Rectangle 6"/>
            <p:cNvSpPr>
              <a:spLocks noChangeArrowheads="1"/>
            </p:cNvSpPr>
            <p:nvPr/>
          </p:nvSpPr>
          <p:spPr bwMode="auto">
            <a:xfrm>
              <a:off x="740" y="370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4151" name="Rectangle 7"/>
            <p:cNvSpPr>
              <a:spLocks noChangeArrowheads="1"/>
            </p:cNvSpPr>
            <p:nvPr/>
          </p:nvSpPr>
          <p:spPr bwMode="auto">
            <a:xfrm>
              <a:off x="740" y="312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</p:grpSp>
      <p:sp>
        <p:nvSpPr>
          <p:cNvPr id="134155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5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33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1042988" y="1844824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3.	Welche Formen der Krankenversicherung können Sie einem gesetzlich Pflichtversicherten anbieten?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1042988" y="2914650"/>
            <a:ext cx="7051675" cy="152876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Krankentagegeldzusatzversicherung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Pflegezusatzversicherung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Kompakttarif zur Vollversicherung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stationäre Zusatzversicherung</a:t>
            </a:r>
          </a:p>
        </p:txBody>
      </p:sp>
      <p:sp>
        <p:nvSpPr>
          <p:cNvPr id="136203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6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72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1042988" y="1844824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3.	Welche Formen der Krankenversicherung können Sie einem gesetzlich Pflichtversicherten anbieten?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1042988" y="2914650"/>
            <a:ext cx="7051675" cy="152876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Krankentagegeldzusatzversicherung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Pflegezusatzversicherung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Kompakttarif zur Vollversicherung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stationäre Zusatzversicherung</a:t>
            </a:r>
          </a:p>
        </p:txBody>
      </p:sp>
      <p:grpSp>
        <p:nvGrpSpPr>
          <p:cNvPr id="136196" name="Group 4"/>
          <p:cNvGrpSpPr>
            <a:grpSpLocks/>
          </p:cNvGrpSpPr>
          <p:nvPr/>
        </p:nvGrpSpPr>
        <p:grpSpPr bwMode="auto">
          <a:xfrm>
            <a:off x="1155700" y="3028950"/>
            <a:ext cx="311150" cy="1279525"/>
            <a:chOff x="728" y="2170"/>
            <a:chExt cx="196" cy="806"/>
          </a:xfrm>
        </p:grpSpPr>
        <p:sp>
          <p:nvSpPr>
            <p:cNvPr id="136197" name="Rectangle 5"/>
            <p:cNvSpPr>
              <a:spLocks noChangeArrowheads="1"/>
            </p:cNvSpPr>
            <p:nvPr/>
          </p:nvSpPr>
          <p:spPr bwMode="auto">
            <a:xfrm>
              <a:off x="728" y="235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6198" name="Rectangle 6"/>
            <p:cNvSpPr>
              <a:spLocks noChangeArrowheads="1"/>
            </p:cNvSpPr>
            <p:nvPr/>
          </p:nvSpPr>
          <p:spPr bwMode="auto">
            <a:xfrm>
              <a:off x="728" y="274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36199" name="Rectangle 7"/>
            <p:cNvSpPr>
              <a:spLocks noChangeArrowheads="1"/>
            </p:cNvSpPr>
            <p:nvPr/>
          </p:nvSpPr>
          <p:spPr bwMode="auto">
            <a:xfrm>
              <a:off x="728" y="217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</p:grpSp>
      <p:sp>
        <p:nvSpPr>
          <p:cNvPr id="136203" name="Rectangle 11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7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78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1042988" y="2938463"/>
            <a:ext cx="7051675" cy="20255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Sie müssen nach § 40 b EStG pauschal versteuert werden.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Die Leistungen aus der privaten Krankenzusatzversicherung sind steuerfrei.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Im Leistungsfall gilt nur die 25%ige Abgeltungsteuer.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Leistungen aus der privaten Krankenversicherung werden nachgelagert besteuert.</a:t>
            </a: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1042988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4.	Welche steuerlichen Vorteile weisen die Leistungen zur privaten Krankenzusatzversicherung auf?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8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51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1042988" y="2938463"/>
            <a:ext cx="7051675" cy="202550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Sie müssen nach § 40 b EStG pauschal versteuert werden.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Die Leistungen aus der privaten Krankenzusatzversicherung sind steuerfrei.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Im Leistungsfall gilt nur die 25%ige Abgeltungsteuer.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Leistungen aus der privaten Krankenversicherung werden nachgelagert besteuert.</a:t>
            </a: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1042988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4.	Welche steuerlichen Vorteile weisen die Leistungen zur privaten Krankenzusatzversicherung auf?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1169777" y="3345073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de-DE" b="1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9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5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1042988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5.	Welche Leistungsvorteile sind der privaten Krankenzusatzversicherung zuzuordnen?</a:t>
            </a:r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1042988" y="2957513"/>
            <a:ext cx="7051675" cy="17732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Heilpraktikerleistungen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Kostenerstattung für Brillen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Krankenhaustagegeld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Wahlleistungen im Ein- oder Zweibettzimmer und privatärztliche Leistungen</a:t>
            </a:r>
          </a:p>
        </p:txBody>
      </p:sp>
      <p:sp>
        <p:nvSpPr>
          <p:cNvPr id="140300" name="Rectangle 12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10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09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1042988" y="1916832"/>
            <a:ext cx="7051675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5.	Welche Leistungsvorteile sind der privaten Krankenzusatzversicherung zuzuordnen?</a:t>
            </a:r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1042988" y="2957513"/>
            <a:ext cx="7051675" cy="17732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Heilpraktikerleistungen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Kostenerstattung für Brillen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Krankenhaustagegeld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/>
              <a:t>Wahlleistungen im Ein- oder Zweibettzimmer und privatärztliche Leistungen</a:t>
            </a:r>
          </a:p>
        </p:txBody>
      </p:sp>
      <p:grpSp>
        <p:nvGrpSpPr>
          <p:cNvPr id="140292" name="Group 4"/>
          <p:cNvGrpSpPr>
            <a:grpSpLocks/>
          </p:cNvGrpSpPr>
          <p:nvPr/>
        </p:nvGrpSpPr>
        <p:grpSpPr bwMode="auto">
          <a:xfrm>
            <a:off x="1155700" y="3062288"/>
            <a:ext cx="311150" cy="1279525"/>
            <a:chOff x="740" y="1407"/>
            <a:chExt cx="196" cy="806"/>
          </a:xfrm>
        </p:grpSpPr>
        <p:sp>
          <p:nvSpPr>
            <p:cNvPr id="140293" name="Rectangle 5"/>
            <p:cNvSpPr>
              <a:spLocks noChangeArrowheads="1"/>
            </p:cNvSpPr>
            <p:nvPr/>
          </p:nvSpPr>
          <p:spPr bwMode="auto">
            <a:xfrm>
              <a:off x="740" y="179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40294" name="Rectangle 6"/>
            <p:cNvSpPr>
              <a:spLocks noChangeArrowheads="1"/>
            </p:cNvSpPr>
            <p:nvPr/>
          </p:nvSpPr>
          <p:spPr bwMode="auto">
            <a:xfrm>
              <a:off x="740" y="198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40295" name="Rectangle 7"/>
            <p:cNvSpPr>
              <a:spLocks noChangeArrowheads="1"/>
            </p:cNvSpPr>
            <p:nvPr/>
          </p:nvSpPr>
          <p:spPr bwMode="auto">
            <a:xfrm>
              <a:off x="740" y="140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  <p:sp>
          <p:nvSpPr>
            <p:cNvPr id="140296" name="Rectangle 8"/>
            <p:cNvSpPr>
              <a:spLocks noChangeArrowheads="1"/>
            </p:cNvSpPr>
            <p:nvPr/>
          </p:nvSpPr>
          <p:spPr bwMode="auto">
            <a:xfrm>
              <a:off x="740" y="159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>
                  <a:solidFill>
                    <a:schemeClr val="tx2"/>
                  </a:solidFill>
                </a:rPr>
                <a:t>x</a:t>
              </a:r>
            </a:p>
          </p:txBody>
        </p:sp>
      </p:grpSp>
      <p:sp>
        <p:nvSpPr>
          <p:cNvPr id="140300" name="Rectangle 12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11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1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1052513" y="1585835"/>
            <a:ext cx="7042150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wrap="square"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6.	Welche Aussagen zur Pflege-Zusatzversicherung sind richtig?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1052513" y="2657475"/>
            <a:ext cx="7051675" cy="276417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Voraussetzung einer staatlichen Förderung zur Pflege-Zusatzversicherung ist der Abschluss einer Riester-Rente. Denn nur wer Vorsorge fürs Alter trifft, soll auch eine Zulage zur Pflege-Zusatzversicherung erhalten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Wer neben der gesetzlichen Pflegeversicherung eine zusätzliche private zulagenfähige Pflege-Zusatzversicherung abschließt, erhält vom Staat einen Zuschuss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Der staatliche Zuschuss beträgt 60 € pro Jahr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Die versicherte Person ist mind. 18 Jahre und pflegeversichert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12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289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1052513" y="1585835"/>
            <a:ext cx="7042150" cy="97906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  <a:extLst/>
        </p:spPr>
        <p:txBody>
          <a:bodyPr wrap="square"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</a:pPr>
            <a:r>
              <a:rPr lang="de-DE" sz="2000" dirty="0">
                <a:solidFill>
                  <a:schemeClr val="bg1"/>
                </a:solidFill>
              </a:rPr>
              <a:t>6.	Welche Aussagen zur Pflege-Zusatzversicherung sind richtig?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1052513" y="2657475"/>
            <a:ext cx="7051675" cy="276417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180000" rIns="180000" bIns="180000">
            <a:spAutoFit/>
          </a:bodyPr>
          <a:lstStyle/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Voraussetzung einer staatlichen Förderung zur Pflege-Zusatzversicherung ist der Abschluss einer Riester-Rente. Denn nur wer Vorsorge fürs Alter trifft, soll auch eine Zulage zur Pflege-Zusatzversicherung erhalten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Wer neben der gesetzlichen Pflegeversicherung eine zusätzliche private zulagenfähige Pflege-Zusatzversicherung abschließt, erhält vom Staat einen Zuschuss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Der staatliche Zuschuss beträgt 60 € pro Jahr</a:t>
            </a:r>
          </a:p>
          <a:p>
            <a:pPr marL="481013" indent="-481013" eaLnBrk="0" hangingPunct="0">
              <a:spcBef>
                <a:spcPct val="25000"/>
              </a:spcBef>
              <a:buFont typeface="Wingdings" pitchFamily="2" charset="2"/>
              <a:buChar char="o"/>
            </a:pPr>
            <a:r>
              <a:rPr lang="de-DE" sz="1600" dirty="0"/>
              <a:t>Die versicherte Person ist mind. 18 Jahre und pflegeversichert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431800" y="404813"/>
            <a:ext cx="82740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>
                <a:latin typeface="+mj-lt"/>
                <a:ea typeface="+mj-ea"/>
                <a:cs typeface="+mj-cs"/>
              </a:rPr>
              <a:t>Prüfen Sie Ihr Wissen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164506" y="3789040"/>
            <a:ext cx="311869" cy="1463675"/>
            <a:chOff x="1164506" y="3789040"/>
            <a:chExt cx="311869" cy="1463675"/>
          </a:xfrm>
        </p:grpSpPr>
        <p:grpSp>
          <p:nvGrpSpPr>
            <p:cNvPr id="142340" name="Group 4"/>
            <p:cNvGrpSpPr>
              <a:grpSpLocks/>
            </p:cNvGrpSpPr>
            <p:nvPr/>
          </p:nvGrpSpPr>
          <p:grpSpPr bwMode="auto">
            <a:xfrm>
              <a:off x="1165225" y="3789040"/>
              <a:ext cx="311150" cy="1463675"/>
              <a:chOff x="740" y="1601"/>
              <a:chExt cx="196" cy="922"/>
            </a:xfrm>
          </p:grpSpPr>
          <p:sp>
            <p:nvSpPr>
              <p:cNvPr id="142341" name="Rectangle 5"/>
              <p:cNvSpPr>
                <a:spLocks noChangeArrowheads="1"/>
              </p:cNvSpPr>
              <p:nvPr/>
            </p:nvSpPr>
            <p:spPr bwMode="auto">
              <a:xfrm>
                <a:off x="740" y="2292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de-DE" b="1">
                    <a:solidFill>
                      <a:schemeClr val="tx2"/>
                    </a:solidFill>
                  </a:rPr>
                  <a:t>x</a:t>
                </a:r>
              </a:p>
            </p:txBody>
          </p:sp>
          <p:sp>
            <p:nvSpPr>
              <p:cNvPr id="142342" name="Rectangle 6"/>
              <p:cNvSpPr>
                <a:spLocks noChangeArrowheads="1"/>
              </p:cNvSpPr>
              <p:nvPr/>
            </p:nvSpPr>
            <p:spPr bwMode="auto">
              <a:xfrm>
                <a:off x="740" y="160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de-DE" b="1" dirty="0">
                    <a:solidFill>
                      <a:schemeClr val="tx2"/>
                    </a:solidFill>
                  </a:rPr>
                  <a:t>x</a:t>
                </a:r>
              </a:p>
            </p:txBody>
          </p:sp>
        </p:grp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164506" y="4574455"/>
              <a:ext cx="311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de-DE" b="1" dirty="0">
                  <a:solidFill>
                    <a:schemeClr val="tx2"/>
                  </a:solidFill>
                </a:rPr>
                <a:t>x</a:t>
              </a:r>
            </a:p>
          </p:txBody>
        </p:sp>
      </p:grp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>
                <a:solidFill>
                  <a:srgbClr val="000000">
                    <a:lumMod val="50000"/>
                    <a:lumOff val="50000"/>
                  </a:srgbClr>
                </a:solidFill>
              </a:rPr>
              <a:t>Seite  </a:t>
            </a:r>
            <a:fld id="{A45FE700-56F4-472F-8C6C-BE5235DA8809}" type="slidenum">
              <a:rPr lang="de-DE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13</a:t>
            </a:fld>
            <a:endParaRPr lang="de-DE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742601"/>
      </p:ext>
    </p:extLst>
  </p:cSld>
  <p:clrMapOvr>
    <a:masterClrMapping/>
  </p:clrMapOvr>
</p:sld>
</file>

<file path=ppt/theme/theme1.xml><?xml version="1.0" encoding="utf-8"?>
<a:theme xmlns:a="http://schemas.openxmlformats.org/drawingml/2006/main" name="1_DAV_Grundausbildung">
  <a:themeElements>
    <a:clrScheme name="Benutzerdefiniert 1">
      <a:dk1>
        <a:srgbClr val="000000"/>
      </a:dk1>
      <a:lt1>
        <a:srgbClr val="FFFFFF"/>
      </a:lt1>
      <a:dk2>
        <a:srgbClr val="849085"/>
      </a:dk2>
      <a:lt2>
        <a:srgbClr val="FFFFFF"/>
      </a:lt2>
      <a:accent1>
        <a:srgbClr val="3794A3"/>
      </a:accent1>
      <a:accent2>
        <a:srgbClr val="9DB11E"/>
      </a:accent2>
      <a:accent3>
        <a:srgbClr val="FFBD00"/>
      </a:accent3>
      <a:accent4>
        <a:srgbClr val="5A7033"/>
      </a:accent4>
      <a:accent5>
        <a:srgbClr val="B0110E"/>
      </a:accent5>
      <a:accent6>
        <a:srgbClr val="EBECD9"/>
      </a:accent6>
      <a:hlink>
        <a:srgbClr val="254274"/>
      </a:hlink>
      <a:folHlink>
        <a:srgbClr val="849085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</Words>
  <Application>Microsoft Office PowerPoint</Application>
  <PresentationFormat>Bildschirmpräsentation (4:3)</PresentationFormat>
  <Paragraphs>107</Paragraphs>
  <Slides>13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Symbol</vt:lpstr>
      <vt:lpstr>Wingdings</vt:lpstr>
      <vt:lpstr>1_DAV_Grundausbildung</vt:lpstr>
      <vt:lpstr>Existenzgründung für Vermögensberater Prüfen Sie Ihr Wissen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DVAG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PPT-Vorgaben</dc:title>
  <dc:creator>Wolfram, Nicole</dc:creator>
  <cp:lastModifiedBy>Wolfram, Nicole</cp:lastModifiedBy>
  <cp:revision>1228</cp:revision>
  <cp:lastPrinted>2016-02-08T09:04:36Z</cp:lastPrinted>
  <dcterms:created xsi:type="dcterms:W3CDTF">2015-02-02T15:12:23Z</dcterms:created>
  <dcterms:modified xsi:type="dcterms:W3CDTF">2018-11-08T13:07:54Z</dcterms:modified>
</cp:coreProperties>
</file>